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D4D675-A2D7-074A-ADEE-7E2361740F6C}" v="75" dt="2026-10-01T12:48:50.458"/>
    <p1510:client id="{CA0BE313-CFEC-B2B2-179D-D2C03CDFD887}" v="61" dt="2026-10-01T14:09:43.4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F84BB5-5168-4800-9B42-C407ADEDAB07}" type="datetimeFigureOut">
              <a:t>10/1/2026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8A76AD-E95C-41CA-AA37-C16C30AD19F7}" type="slidenum"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2182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7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73952"/>
            <a:ext cx="11201400" cy="0"/>
          </a:xfrm>
          <a:prstGeom prst="line">
            <a:avLst/>
          </a:prstGeom>
          <a:noFill/>
          <a:ln w="12700">
            <a:solidFill>
              <a:srgbClr val="D5D8D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30352" y="6510528"/>
            <a:ext cx="4206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MoonName  •  présentation du 08/10/2026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32520" y="685800"/>
            <a:ext cx="2240280" cy="2240280"/>
          </a:xfrm>
          <a:prstGeom prst="ellipse">
            <a:avLst/>
          </a:prstGeom>
          <a:solidFill>
            <a:srgbClr val="E4E5E4"/>
          </a:solidFill>
          <a:ln w="12700">
            <a:solidFill>
              <a:srgbClr val="CACC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217152" y="1078992"/>
            <a:ext cx="320040" cy="320040"/>
          </a:xfrm>
          <a:prstGeom prst="ellipse">
            <a:avLst/>
          </a:prstGeom>
          <a:solidFill>
            <a:srgbClr val="D0D2D1"/>
          </a:solidFill>
          <a:ln w="12700">
            <a:solidFill>
              <a:srgbClr val="D0D2D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921240" y="1691640"/>
            <a:ext cx="457200" cy="457200"/>
          </a:xfrm>
          <a:prstGeom prst="ellipse">
            <a:avLst/>
          </a:prstGeom>
          <a:solidFill>
            <a:srgbClr val="D0D2D1"/>
          </a:solidFill>
          <a:ln w="12700">
            <a:solidFill>
              <a:srgbClr val="D0D2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2103120"/>
            <a:ext cx="256032" cy="256032"/>
          </a:xfrm>
          <a:prstGeom prst="ellipse">
            <a:avLst/>
          </a:prstGeom>
          <a:solidFill>
            <a:srgbClr val="D0D2D1"/>
          </a:solidFill>
          <a:ln w="12700">
            <a:solidFill>
              <a:srgbClr val="D0D2D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325880"/>
            <a:ext cx="7040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MoonName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768096" y="21579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2E5B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 mini API pour réserver une inscription sur une pierre lunaire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753719" y="2735264"/>
            <a:ext cx="6598057" cy="6820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666666"/>
                </a:solidFill>
              </a:rPr>
              <a:t>Younes </a:t>
            </a:r>
            <a:r>
              <a:rPr lang="en-US" sz="1400" dirty="0" err="1">
                <a:solidFill>
                  <a:srgbClr val="666666"/>
                </a:solidFill>
              </a:rPr>
              <a:t>Berebia</a:t>
            </a:r>
            <a:endParaRPr lang="en-US" sz="1400" dirty="0">
              <a:solidFill>
                <a:srgbClr val="666666"/>
              </a:solidFill>
            </a:endParaRPr>
          </a:p>
          <a:p>
            <a:endParaRPr lang="en-US" sz="1400">
              <a:solidFill>
                <a:srgbClr val="000000"/>
              </a:solidFill>
              <a:cs typeface="Arial"/>
            </a:endParaRPr>
          </a:p>
          <a:p>
            <a:r>
              <a:rPr lang="en-US" sz="1400" dirty="0" err="1">
                <a:solidFill>
                  <a:srgbClr val="666666"/>
                </a:solidFill>
              </a:rPr>
              <a:t>Projet</a:t>
            </a:r>
            <a:r>
              <a:rPr lang="en-US" sz="1400" dirty="0">
                <a:solidFill>
                  <a:srgbClr val="666666"/>
                </a:solidFill>
              </a:rPr>
              <a:t> </a:t>
            </a:r>
            <a:r>
              <a:rPr lang="en-US" sz="1400" dirty="0" err="1">
                <a:solidFill>
                  <a:srgbClr val="666666"/>
                </a:solidFill>
              </a:rPr>
              <a:t>fictif</a:t>
            </a:r>
            <a:r>
              <a:rPr lang="en-US" sz="1400" dirty="0">
                <a:solidFill>
                  <a:srgbClr val="666666"/>
                </a:solidFill>
              </a:rPr>
              <a:t> </a:t>
            </a:r>
            <a:endParaRPr lang="en-US" sz="1400">
              <a:solidFill>
                <a:srgbClr val="000000"/>
              </a:solidFill>
              <a:cs typeface="Arial"/>
            </a:endParaRPr>
          </a:p>
          <a:p>
            <a:pPr marL="0" indent="0">
              <a:buNone/>
            </a:pPr>
            <a:r>
              <a:rPr lang="en-US" sz="1400" dirty="0">
                <a:solidFill>
                  <a:srgbClr val="666666"/>
                </a:solidFill>
              </a:rPr>
              <a:t>Spring Boot • PostgreSQL • JWT</a:t>
            </a:r>
            <a:endParaRPr lang="en-US" sz="1400" dirty="0"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096" y="3822192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>
              <a:solidFill>
                <a:srgbClr val="171717"/>
              </a:solidFill>
              <a:cs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L’idée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pars d’un concept volontairement fictif.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42900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0392" y="16733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B84"/>
                </a:solidFill>
              </a:rPr>
              <a:t>Le problème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50392" y="2075688"/>
            <a:ext cx="30998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On peut acheter beaucoup de souvenirs classiques. Mon idée est de simuler un souvenir plus original : laisser une inscription sur une pierre qui sera déposée sur la Lune.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1508760"/>
            <a:ext cx="342900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53712" y="16733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B84"/>
                </a:solidFill>
              </a:rPr>
              <a:t>Le principe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53712" y="2075688"/>
            <a:ext cx="30998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Un client choisit une mission, écrit son inscription et crée sa pierre. Un astronaute confirme ensuite le dépôt.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92440" y="1508760"/>
            <a:ext cx="342900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57032" y="1673352"/>
            <a:ext cx="30998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B84"/>
                </a:solidFill>
              </a:rPr>
              <a:t>Pourquoi ce projet ?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57032" y="2075688"/>
            <a:ext cx="3099816" cy="2441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Parce que le sujet est assez simple pour me concentrer sur Spring : API, services, repositories, sécurité et base de données.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074920"/>
            <a:ext cx="10241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2E5B84"/>
                </a:solidFill>
              </a:rPr>
              <a:t>Exemples de missions : Moonwalk Express • Apollo Presley • Mission Billie Jean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2.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22960" y="1572768"/>
            <a:ext cx="530352" cy="530352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8249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58368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</a:rPr>
              <a:t>Voir les missions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8368" y="2761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GET /api/missions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852928" y="1682496"/>
            <a:ext cx="475488" cy="292608"/>
          </a:xfrm>
          <a:prstGeom prst="chevron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11880" y="1572768"/>
            <a:ext cx="530352" cy="530352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11880" y="168249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47288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</a:rPr>
              <a:t>Se connecter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447288" y="2761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POST /api/auth/login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41848" y="1682496"/>
            <a:ext cx="475488" cy="292608"/>
          </a:xfrm>
          <a:prstGeom prst="chevron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572768"/>
            <a:ext cx="530352" cy="530352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0" y="168249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236208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</a:rPr>
              <a:t>Créer une pierre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236208" y="2761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POST /api/pierres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430768" y="1682496"/>
            <a:ext cx="475488" cy="292608"/>
          </a:xfrm>
          <a:prstGeom prst="chevron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9720" y="1572768"/>
            <a:ext cx="530352" cy="530352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9720" y="1682496"/>
            <a:ext cx="5303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025128" y="23042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1717"/>
                </a:solidFill>
              </a:rPr>
              <a:t>Confirmer le dépôt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025128" y="2761488"/>
            <a:ext cx="2148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</a:rPr>
              <a:t>PATCH /api/pierres/{id}/deposer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143000" y="4224528"/>
            <a:ext cx="9829800" cy="1005840"/>
          </a:xfrm>
          <a:prstGeom prst="roundRect">
            <a:avLst/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17320" y="4480560"/>
            <a:ext cx="92811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171717"/>
                </a:solidFill>
              </a:rPr>
              <a:t>J’ai laissé de côté le panier, les commandes, Redis, le rate limiting et le refresh token. Je préfère expliquer 4 routes que 20 routes que je maîtrise mal.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Structure du projet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666666"/>
              </a:solidFill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868680" y="1828800"/>
            <a:ext cx="2057400" cy="1417320"/>
          </a:xfrm>
          <a:prstGeom prst="roundRect">
            <a:avLst/>
          </a:prstGeom>
          <a:solidFill>
            <a:srgbClr val="DCE9F4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14984" y="20574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</a:rPr>
              <a:t>API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6696" y="2578608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Controllers • DTO • JWT • configss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44952" y="2331720"/>
            <a:ext cx="384048" cy="329184"/>
          </a:xfrm>
          <a:prstGeom prst="chevron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520440" y="1828800"/>
            <a:ext cx="2057400" cy="1417320"/>
          </a:xfrm>
          <a:prstGeom prst="roundRect">
            <a:avLst/>
          </a:prstGeom>
          <a:solidFill>
            <a:srgbClr val="E4EFE8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20574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</a:rPr>
              <a:t>BLL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48456" y="2578608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Services • logique métier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96712" y="2331720"/>
            <a:ext cx="384048" cy="329184"/>
          </a:xfrm>
          <a:prstGeom prst="chevron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828800"/>
            <a:ext cx="2057400" cy="1417320"/>
          </a:xfrm>
          <a:prstGeom prst="roundRect">
            <a:avLst/>
          </a:prstGeom>
          <a:solidFill>
            <a:srgbClr val="EEE7F3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20574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</a:rPr>
              <a:t>DAL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300216" y="2578608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Repositories • Seed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348472" y="2331720"/>
            <a:ext cx="384048" cy="329184"/>
          </a:xfrm>
          <a:prstGeom prst="chevron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823960" y="1828800"/>
            <a:ext cx="2057400" cy="1417320"/>
          </a:xfrm>
          <a:prstGeom prst="roundRect">
            <a:avLst/>
          </a:prstGeom>
          <a:solidFill>
            <a:srgbClr val="F3EADB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70264" y="2057400"/>
            <a:ext cx="17647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71717"/>
                </a:solidFill>
              </a:rPr>
              <a:t>DL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951976" y="2578608"/>
            <a:ext cx="18013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66666"/>
                </a:solidFill>
              </a:rPr>
              <a:t>User • Mission • Pierre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11680" y="3886200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2E5B84"/>
                </a:solidFill>
              </a:rPr>
              <a:t>Controller  →  Service  →  Repository  →  PostgreSQL</a:t>
            </a:r>
            <a:endParaRPr lang="en-US" sz="2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Exemple de parcours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Créer une pierre avec Michael Jackson.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411480" cy="411480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9961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627632" y="140817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7"/>
                </a:solidFill>
              </a:rPr>
              <a:t>Michael se connecte avec /api/auth/login.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65860" y="1828800"/>
            <a:ext cx="0" cy="813816"/>
          </a:xfrm>
          <a:prstGeom prst="line">
            <a:avLst/>
          </a:prstGeom>
          <a:noFill/>
          <a:ln w="17780">
            <a:solidFill>
              <a:srgbClr val="B6C0C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240280"/>
            <a:ext cx="411480" cy="411480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32257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27632" y="223113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7"/>
                </a:solidFill>
              </a:rPr>
              <a:t>L’API renvoie un JWT.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165860" y="2651760"/>
            <a:ext cx="0" cy="813816"/>
          </a:xfrm>
          <a:prstGeom prst="line">
            <a:avLst/>
          </a:prstGeom>
          <a:noFill/>
          <a:ln w="17780">
            <a:solidFill>
              <a:srgbClr val="B6C0C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3063240"/>
            <a:ext cx="411480" cy="411480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314553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27632" y="305409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7"/>
                </a:solidFill>
              </a:rPr>
              <a:t>Swagger envoie ce JWT dans Authorization: Bearer ...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165860" y="3474720"/>
            <a:ext cx="0" cy="813816"/>
          </a:xfrm>
          <a:prstGeom prst="line">
            <a:avLst/>
          </a:prstGeom>
          <a:noFill/>
          <a:ln w="17780">
            <a:solidFill>
              <a:srgbClr val="B6C0C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" y="3886200"/>
            <a:ext cx="411480" cy="411480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396849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627632" y="387705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7"/>
                </a:solidFill>
              </a:rPr>
              <a:t>PierreController appelle PierreServiceImpl.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65860" y="4297680"/>
            <a:ext cx="0" cy="813816"/>
          </a:xfrm>
          <a:prstGeom prst="line">
            <a:avLst/>
          </a:prstGeom>
          <a:noFill/>
          <a:ln w="17780">
            <a:solidFill>
              <a:srgbClr val="B6C0C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0120" y="4709160"/>
            <a:ext cx="411480" cy="411480"/>
          </a:xfrm>
          <a:prstGeom prst="ellipse">
            <a:avLst/>
          </a:prstGeom>
          <a:solidFill>
            <a:srgbClr val="2E5B84"/>
          </a:solidFill>
          <a:ln w="12700">
            <a:solidFill>
              <a:srgbClr val="2E5B8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791456"/>
            <a:ext cx="411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627632" y="4700016"/>
            <a:ext cx="8869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71717"/>
                </a:solidFill>
              </a:rPr>
              <a:t>PierreRepository enregistre la pierre dans PostgreSQL.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828800" y="5623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E5B84"/>
                </a:solidFill>
              </a:rPr>
              <a:t>Exemple : "Smooth Criminal" • Belgique • Moonwalk Express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00" b="1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5. Ce </a:t>
            </a:r>
            <a:r>
              <a:rPr lang="en-US" sz="2600" b="1" dirty="0" err="1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que</a:t>
            </a:r>
            <a:r>
              <a:rPr lang="en-US" sz="2600" b="1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600" b="1" dirty="0" err="1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j’ai</a:t>
            </a:r>
            <a:r>
              <a:rPr lang="en-US" sz="2600" b="1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 </a:t>
            </a:r>
            <a:r>
              <a:rPr lang="en-US" sz="2600" b="1" dirty="0" err="1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eu</a:t>
            </a:r>
            <a:r>
              <a:rPr lang="en-US" sz="2600" b="1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 le temps de faire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1200" dirty="0">
              <a:solidFill>
                <a:srgbClr val="666666"/>
              </a:solidFill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77240" y="1417320"/>
            <a:ext cx="516636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41832" y="158191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B84"/>
                </a:solidFill>
              </a:rPr>
              <a:t>fait</a:t>
            </a:r>
            <a:endParaRPr lang="fr-FR" dirty="0"/>
          </a:p>
        </p:txBody>
      </p:sp>
      <p:sp>
        <p:nvSpPr>
          <p:cNvPr id="6" name="Text 4"/>
          <p:cNvSpPr/>
          <p:nvPr/>
        </p:nvSpPr>
        <p:spPr>
          <a:xfrm>
            <a:off x="941832" y="1984248"/>
            <a:ext cx="4837176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architecture API / BLL / DAL / DL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DTO request / response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interface Service + Impl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Spring Data JPA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JWT + filtre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@PreAuthorize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Flyway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Swagger </a:t>
            </a:r>
            <a:endParaRPr lang="en-US" sz="1200" dirty="0">
              <a:solidFill>
                <a:srgbClr val="171717"/>
              </a:solidFill>
              <a:cs typeface="Arial"/>
            </a:endParaRPr>
          </a:p>
          <a:p>
            <a:r>
              <a:rPr lang="en-US" sz="1200" dirty="0">
                <a:solidFill>
                  <a:srgbClr val="171717"/>
                </a:solidFill>
                <a:cs typeface="Arial"/>
              </a:rPr>
              <a:t>Front-end </a:t>
            </a:r>
            <a:r>
              <a:rPr lang="en-US" sz="1200" dirty="0" err="1">
                <a:solidFill>
                  <a:srgbClr val="171717"/>
                </a:solidFill>
                <a:cs typeface="Arial"/>
              </a:rPr>
              <a:t>thymeleaf</a:t>
            </a:r>
          </a:p>
          <a:p>
            <a:r>
              <a:rPr lang="en-US" sz="1200" dirty="0">
                <a:solidFill>
                  <a:srgbClr val="171717"/>
                </a:solidFill>
                <a:cs typeface="Arial"/>
              </a:rPr>
              <a:t>Panier/</a:t>
            </a:r>
            <a:r>
              <a:rPr lang="en-US" sz="1200" dirty="0" err="1">
                <a:solidFill>
                  <a:srgbClr val="171717"/>
                </a:solidFill>
                <a:cs typeface="Arial"/>
              </a:rPr>
              <a:t>commandes</a:t>
            </a:r>
          </a:p>
          <a:p>
            <a:r>
              <a:rPr lang="en-US" sz="1200" dirty="0">
                <a:solidFill>
                  <a:srgbClr val="171717"/>
                </a:solidFill>
                <a:cs typeface="Arial"/>
              </a:rPr>
              <a:t>Refresh token</a:t>
            </a:r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166360" cy="4251960"/>
          </a:xfrm>
          <a:prstGeom prst="roundRect">
            <a:avLst>
              <a:gd name="adj" fmla="val 860"/>
            </a:avLst>
          </a:prstGeom>
          <a:solidFill>
            <a:srgbClr val="FFFFFF"/>
          </a:solidFill>
          <a:ln w="12700">
            <a:solidFill>
              <a:srgbClr val="CDD3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8232" y="1581912"/>
            <a:ext cx="48371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5B84"/>
                </a:solidFill>
              </a:rPr>
              <a:t>Pas fait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28232" y="1984248"/>
            <a:ext cx="4837176" cy="3538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Redis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rate limiting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recherche dynamique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</a:rPr>
              <a:t>• upload </a:t>
            </a:r>
            <a:r>
              <a:rPr lang="en-US" sz="1200" dirty="0" err="1">
                <a:solidFill>
                  <a:srgbClr val="171717"/>
                </a:solidFill>
              </a:rPr>
              <a:t>d’images</a:t>
            </a:r>
            <a:endParaRPr lang="en-US" sz="1200" dirty="0" err="1"/>
          </a:p>
          <a:p>
            <a:pPr marL="0" indent="0">
              <a:buNone/>
            </a:pPr>
            <a:r>
              <a:rPr lang="en-US" sz="1200" dirty="0">
                <a:solidFill>
                  <a:srgbClr val="171717"/>
                </a:solidFill>
                <a:cs typeface="Arial"/>
              </a:rPr>
              <a:t>•</a:t>
            </a:r>
            <a:endParaRPr lang="en-US" sz="1200">
              <a:solidFill>
                <a:srgbClr val="000000"/>
              </a:solidFill>
              <a:cs typeface="Arial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Démo en 3 minutes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58368" y="932688"/>
            <a:ext cx="10424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>
              <a:solidFill>
                <a:srgbClr val="666666"/>
              </a:solidFill>
              <a:cs typeface="Arial"/>
            </a:endParaRPr>
          </a:p>
        </p:txBody>
      </p:sp>
      <p:sp>
        <p:nvSpPr>
          <p:cNvPr id="4" name="Text 2"/>
          <p:cNvSpPr/>
          <p:nvPr/>
        </p:nvSpPr>
        <p:spPr>
          <a:xfrm>
            <a:off x="960120" y="1417320"/>
            <a:ext cx="10241280" cy="3520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  <a:latin typeface="Arial"/>
                <a:ea typeface="Arial" pitchFamily="34" charset="-122"/>
                <a:cs typeface="Arial"/>
              </a:rPr>
              <a:t>GET missions → Moonwalk Express et Apollo Presley</a:t>
            </a:r>
            <a:endParaRPr lang="en-US" sz="1700" dirty="0">
              <a:latin typeface="Arial"/>
              <a:cs typeface="Arial"/>
            </a:endParaRPr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michael / moonwalk → je récupère le JWT.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pierre → inscription "Smooth Criminal".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elvis / vegas → rôle ASTRONAUTE.</a:t>
            </a:r>
            <a:endParaRPr lang="en-US" sz="1700" dirty="0"/>
          </a:p>
          <a:p>
            <a:pPr marL="228600" indent="-228600">
              <a:buSzPct val="100000"/>
              <a:buChar char="•"/>
            </a:pPr>
            <a:r>
              <a:rPr lang="en-US" sz="17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PATCH deposer → la pierre passe de EN_ATTENTE à DEPOSEE.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1554480" y="5166360"/>
            <a:ext cx="9052560" cy="658368"/>
          </a:xfrm>
          <a:prstGeom prst="roundRect">
            <a:avLst/>
          </a:prstGeom>
          <a:solidFill>
            <a:srgbClr val="E9EEF3"/>
          </a:solidFill>
          <a:ln w="12700">
            <a:solidFill>
              <a:srgbClr val="E9EE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783080" y="5376672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600" b="1" dirty="0">
                <a:solidFill>
                  <a:srgbClr val="2E5B84"/>
                </a:solidFill>
              </a:rPr>
              <a:t>!! Petite </a:t>
            </a:r>
            <a:r>
              <a:rPr lang="en-US" sz="1600" b="1" dirty="0" err="1">
                <a:solidFill>
                  <a:srgbClr val="2E5B84"/>
                </a:solidFill>
              </a:rPr>
              <a:t>api</a:t>
            </a:r>
            <a:r>
              <a:rPr lang="en-US" sz="1600" b="1" dirty="0">
                <a:solidFill>
                  <a:srgbClr val="2E5B84"/>
                </a:solidFill>
              </a:rPr>
              <a:t> propre </a:t>
            </a:r>
            <a:r>
              <a:rPr lang="en-US" sz="1600" b="1" dirty="0" err="1">
                <a:solidFill>
                  <a:srgbClr val="2E5B84"/>
                </a:solidFill>
              </a:rPr>
              <a:t>mais</a:t>
            </a:r>
            <a:r>
              <a:rPr lang="en-US" sz="1600" b="1" dirty="0">
                <a:solidFill>
                  <a:srgbClr val="2E5B84"/>
                </a:solidFill>
              </a:rPr>
              <a:t> pas encore le </a:t>
            </a:r>
            <a:r>
              <a:rPr lang="en-US" sz="1600" b="1" dirty="0" err="1">
                <a:solidFill>
                  <a:srgbClr val="2E5B84"/>
                </a:solidFill>
              </a:rPr>
              <a:t>produit</a:t>
            </a:r>
            <a:r>
              <a:rPr lang="en-US" sz="1600" b="1" dirty="0">
                <a:solidFill>
                  <a:srgbClr val="2E5B84"/>
                </a:solidFill>
              </a:rPr>
              <a:t> </a:t>
            </a:r>
            <a:r>
              <a:rPr lang="en-US" sz="1600" b="1" dirty="0" err="1">
                <a:solidFill>
                  <a:srgbClr val="2E5B84"/>
                </a:solidFill>
              </a:rPr>
              <a:t>finit</a:t>
            </a:r>
            <a:endParaRPr lang="fr-FR" dirty="0" err="1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09960" y="6492240"/>
            <a:ext cx="457200" cy="18288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777777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Technofutur 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MoonName</dc:title>
  <dc:subject>Présentation MoonName</dc:subject>
  <dc:creator>Younes Berebia</dc:creator>
  <cp:lastModifiedBy>Younes Berebia</cp:lastModifiedBy>
  <cp:revision>43</cp:revision>
  <dcterms:created xsi:type="dcterms:W3CDTF">2026-10-01T12:20:36Z</dcterms:created>
  <dcterms:modified xsi:type="dcterms:W3CDTF">2026-10-01T14:10:12Z</dcterms:modified>
</cp:coreProperties>
</file>